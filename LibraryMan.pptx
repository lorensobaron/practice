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5" r:id="rId15"/>
  </p:sldIdLst>
  <p:sldSz cx="9144000" cy="5143500"/>
  <p:notesSz cx="5143500" cy="9144000"/>
  <p:embeddedFontLst>
    <p:embeddedFont>
      <p:font typeface="Montserrat Bold" pitchFamily="34" charset="-122"/>
      <p:bold r:id="rId19"/>
    </p:embeddedFont>
    <p:embeddedFont>
      <p:font typeface="Source Sans 3" panose="020B0303030403020204" pitchFamily="34" charset="-122"/>
      <p:regular r:id="rId20"/>
    </p:embeddedFont>
    <p:embeddedFont>
      <p:font typeface="Consolas" panose="020B0609020204030204" pitchFamily="34" charset="-122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2.png"/><Relationship Id="rId2" Type="http://schemas.openxmlformats.org/officeDocument/2006/relationships/image" Target="../media/image5.sv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545357"/>
            <a:ext cx="8064252" cy="8765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Library Management API — Система управления библиотекой</a:t>
            </a:r>
            <a:endParaRPr lang="en-US" sz="2750" b="1" dirty="0">
              <a:solidFill>
                <a:srgbClr val="000000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9874" y="2730475"/>
            <a:ext cx="8064252" cy="8675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1350"/>
              </a:spcAft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Хомяков Артём Алексеевич, группа 363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Коротко: компактный REST API на Go для учёта книг, читателей и операций выдачи/возврата. Демонстрация с веб-интерфейсом и локальной SQLite базой.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8045" y="4686935"/>
            <a:ext cx="1857375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260574"/>
            <a:ext cx="5109493" cy="350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Цель и ключевой функционал</a:t>
            </a:r>
            <a:endParaRPr lang="en-US" sz="2200" b="1" dirty="0">
              <a:solidFill>
                <a:srgbClr val="000000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9874" y="1919660"/>
            <a:ext cx="347067" cy="347067"/>
          </a:xfrm>
          <a:prstGeom prst="roundRect">
            <a:avLst>
              <a:gd name="adj" fmla="val 6667"/>
            </a:avLst>
          </a:prstGeom>
          <a:solidFill>
            <a:srgbClr val="F2EEEE"/>
          </a:solidFill>
        </p:spPr>
      </p:sp>
      <p:sp>
        <p:nvSpPr>
          <p:cNvPr id="4" name="Text 2"/>
          <p:cNvSpPr/>
          <p:nvPr/>
        </p:nvSpPr>
        <p:spPr>
          <a:xfrm>
            <a:off x="1041202" y="1972642"/>
            <a:ext cx="1823814" cy="219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Добавление и учёт</a:t>
            </a:r>
            <a:endParaRPr lang="en-US" sz="1350" b="1" dirty="0">
              <a:solidFill>
                <a:srgbClr val="3D3838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41202" y="2284288"/>
            <a:ext cx="3434358" cy="4627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Добавление книг в каталог с метаданными (title, author, isbn, year, status).</a:t>
            </a:r>
            <a:endParaRPr lang="en-US" sz="1200" dirty="0">
              <a:solidFill>
                <a:srgbClr val="3D3838"/>
              </a:solidFill>
              <a:latin typeface="Arial" panose="020B0604020202020204" pitchFamily="34" charset="0"/>
              <a:ea typeface="Source Sans 3" panose="020B0303030403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668366" y="1919660"/>
            <a:ext cx="347067" cy="347067"/>
          </a:xfrm>
          <a:prstGeom prst="roundRect">
            <a:avLst>
              <a:gd name="adj" fmla="val 6667"/>
            </a:avLst>
          </a:prstGeom>
          <a:solidFill>
            <a:srgbClr val="F2EEEE"/>
          </a:solidFill>
        </p:spPr>
      </p:sp>
      <p:sp>
        <p:nvSpPr>
          <p:cNvPr id="7" name="Text 5"/>
          <p:cNvSpPr/>
          <p:nvPr/>
        </p:nvSpPr>
        <p:spPr>
          <a:xfrm>
            <a:off x="5169694" y="1972642"/>
            <a:ext cx="1753046" cy="219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Пользователи</a:t>
            </a:r>
            <a:endParaRPr lang="en-US" sz="1350" b="1" dirty="0">
              <a:solidFill>
                <a:srgbClr val="3D3838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169694" y="2284288"/>
            <a:ext cx="3434432" cy="4627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Регистрация читателей: имя, e‑mail, дата регистрации. Уникальные UUID.</a:t>
            </a:r>
            <a:endParaRPr lang="en-US" sz="1200" dirty="0">
              <a:solidFill>
                <a:srgbClr val="3D3838"/>
              </a:solidFill>
              <a:latin typeface="Arial" panose="020B0604020202020204" pitchFamily="34" charset="0"/>
              <a:ea typeface="Source Sans 3" panose="020B0303030403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39874" y="3055516"/>
            <a:ext cx="347067" cy="347067"/>
          </a:xfrm>
          <a:prstGeom prst="roundRect">
            <a:avLst>
              <a:gd name="adj" fmla="val 6667"/>
            </a:avLst>
          </a:prstGeom>
          <a:solidFill>
            <a:srgbClr val="F2EEEE"/>
          </a:solidFill>
        </p:spPr>
      </p:sp>
      <p:sp>
        <p:nvSpPr>
          <p:cNvPr id="10" name="Text 8"/>
          <p:cNvSpPr/>
          <p:nvPr/>
        </p:nvSpPr>
        <p:spPr>
          <a:xfrm>
            <a:off x="1041202" y="3108499"/>
            <a:ext cx="2665884" cy="219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Операции выдачи/возврата</a:t>
            </a:r>
            <a:endParaRPr lang="en-US" sz="1350" b="1" dirty="0">
              <a:solidFill>
                <a:srgbClr val="3D3838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41202" y="3420145"/>
            <a:ext cx="3434358" cy="4627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Выдача на 14 дней, автоматическое вычисление due_date, запись в журнал выдач.</a:t>
            </a:r>
            <a:endParaRPr lang="en-US" sz="1200" dirty="0">
              <a:solidFill>
                <a:srgbClr val="3D3838"/>
              </a:solidFill>
              <a:latin typeface="Arial" panose="020B0604020202020204" pitchFamily="34" charset="0"/>
              <a:ea typeface="Source Sans 3" panose="020B0303030403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68366" y="3055516"/>
            <a:ext cx="347067" cy="347067"/>
          </a:xfrm>
          <a:prstGeom prst="roundRect">
            <a:avLst>
              <a:gd name="adj" fmla="val 6667"/>
            </a:avLst>
          </a:prstGeom>
          <a:solidFill>
            <a:srgbClr val="F2EEEE"/>
          </a:solidFill>
        </p:spPr>
      </p:sp>
      <p:sp>
        <p:nvSpPr>
          <p:cNvPr id="13" name="Text 11"/>
          <p:cNvSpPr/>
          <p:nvPr/>
        </p:nvSpPr>
        <p:spPr>
          <a:xfrm>
            <a:off x="5169694" y="3108499"/>
            <a:ext cx="1753046" cy="219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Поиск и журнал</a:t>
            </a:r>
            <a:endParaRPr lang="en-US" sz="1350" b="1" dirty="0">
              <a:solidFill>
                <a:srgbClr val="3D3838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169694" y="3420145"/>
            <a:ext cx="3434432" cy="4627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Фильтрация по автору и статусу, журнал операций с возможностью просмотра истории.</a:t>
            </a:r>
            <a:endParaRPr lang="en-US" sz="1200" dirty="0">
              <a:solidFill>
                <a:srgbClr val="3D3838"/>
              </a:solidFill>
              <a:latin typeface="Arial" panose="020B0604020202020204" pitchFamily="34" charset="0"/>
              <a:ea typeface="Source Sans 3" panose="020B0303030403020204" pitchFamily="34" charset="-122"/>
              <a:cs typeface="Arial" panose="020B0604020202020204" pitchFamily="34" charset="0"/>
            </a:endParaRPr>
          </a:p>
        </p:txBody>
      </p:sp>
      <p:pic>
        <p:nvPicPr>
          <p:cNvPr id="15" name="Изображение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8045" y="4686935"/>
            <a:ext cx="1857375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045369"/>
            <a:ext cx="7408143" cy="350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Архитектурная идея и технологический стек</a:t>
            </a:r>
            <a:endParaRPr lang="en-US" sz="2200" b="1" dirty="0">
              <a:solidFill>
                <a:srgbClr val="000000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83034" y="1781547"/>
            <a:ext cx="2210246" cy="219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Стек</a:t>
            </a:r>
            <a:endParaRPr lang="en-US" sz="1350" b="1" dirty="0">
              <a:solidFill>
                <a:srgbClr val="000000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83034" y="2154957"/>
            <a:ext cx="2913534" cy="18892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Go 1.22+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SQLite (modernc.org/sqlite)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net/http (роутер на стандартных средствах)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log / slog — логирование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.env (godotenv) — конфигурация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UUID для id сущностей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920877" y="1766069"/>
            <a:ext cx="4687937" cy="6940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Дизайн: минимальные зависимости, предпочтение стандартным библиотекам для простоты поддержки и лёгкой развёртки. Подготовлена основа для добавления JWT-авторизации.</a:t>
            </a:r>
            <a:endParaRPr lang="en-US" sz="1200" dirty="0">
              <a:solidFill>
                <a:srgbClr val="3D3838"/>
              </a:solidFill>
              <a:latin typeface="Arial" panose="020B0604020202020204" pitchFamily="34" charset="0"/>
              <a:ea typeface="Source Sans 3" panose="020B0303030403020204" pitchFamily="34" charset="-122"/>
              <a:cs typeface="Arial" panose="020B0604020202020204" pitchFamily="34" charset="0"/>
            </a:endParaRPr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8045" y="4686935"/>
            <a:ext cx="1857375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613023"/>
            <a:ext cx="3359869" cy="350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Структура проекта</a:t>
            </a:r>
            <a:endParaRPr lang="en-US" sz="2200" b="1" dirty="0">
              <a:solidFill>
                <a:srgbClr val="000000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9874" y="1272108"/>
            <a:ext cx="8064252" cy="2853407"/>
          </a:xfrm>
          <a:prstGeom prst="roundRect">
            <a:avLst>
              <a:gd name="adj" fmla="val 811"/>
            </a:avLst>
          </a:prstGeom>
          <a:solidFill>
            <a:srgbClr val="F2F2F2"/>
          </a:solidFill>
        </p:spPr>
      </p:sp>
      <p:sp>
        <p:nvSpPr>
          <p:cNvPr id="4" name="Shape 2"/>
          <p:cNvSpPr/>
          <p:nvPr/>
        </p:nvSpPr>
        <p:spPr>
          <a:xfrm>
            <a:off x="532209" y="1272108"/>
            <a:ext cx="8079581" cy="2853407"/>
          </a:xfrm>
          <a:prstGeom prst="roundRect">
            <a:avLst>
              <a:gd name="adj" fmla="val 811"/>
            </a:avLst>
          </a:prstGeom>
          <a:solidFill>
            <a:srgbClr val="F2F2F2"/>
          </a:solidFill>
        </p:spPr>
      </p:sp>
      <p:sp>
        <p:nvSpPr>
          <p:cNvPr id="5" name="Text 3"/>
          <p:cNvSpPr/>
          <p:nvPr/>
        </p:nvSpPr>
        <p:spPr>
          <a:xfrm>
            <a:off x="725016" y="1426369"/>
            <a:ext cx="7693968" cy="25448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Consolas" panose="020B0609020204030204" pitchFamily="34" charset="-122"/>
                <a:cs typeface="Arial" panose="020B0604020202020204" pitchFamily="34" charset="0"/>
              </a:rPr>
              <a:t>LibraryBack/
├── cmd/main.go        ← точка входа
├── internal/
│   ├── models/        ← Book, User, Issue (структуры)
│   ├── config/        ← загрузка .env
│   ├── db/            ← SQLite + миграции
│   ├── handlers/      ← HTTP-обработчики
│   └── auth/          ← JWT (план)
├── .env.example
└── README.md
</a:t>
            </a:r>
            <a:endParaRPr lang="en-US" sz="1200" dirty="0">
              <a:solidFill>
                <a:srgbClr val="3D3838"/>
              </a:solidFill>
              <a:latin typeface="Arial" panose="020B0604020202020204" pitchFamily="34" charset="0"/>
              <a:ea typeface="Consolas" panose="020B060902020403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9874" y="4299049"/>
            <a:ext cx="8521452" cy="2313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Организация кода ориентирована на читабельность, тестируемость и отделение зависимостей (DB, конфиг, handlers).</a:t>
            </a:r>
            <a:endParaRPr lang="en-US" sz="1200" dirty="0">
              <a:solidFill>
                <a:srgbClr val="3D3838"/>
              </a:solidFill>
              <a:latin typeface="Arial" panose="020B0604020202020204" pitchFamily="34" charset="0"/>
              <a:ea typeface="Source Sans 3" panose="020B0303030403020204" pitchFamily="34" charset="-122"/>
              <a:cs typeface="Arial" panose="020B0604020202020204" pitchFamily="34" charset="0"/>
            </a:endParaRPr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8045" y="4686935"/>
            <a:ext cx="1857375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247701"/>
            <a:ext cx="6837313" cy="350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Схема базы данных — основные таблицы</a:t>
            </a:r>
            <a:endParaRPr lang="en-US" sz="2200" b="1" dirty="0">
              <a:solidFill>
                <a:srgbClr val="000000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9874" y="2174056"/>
            <a:ext cx="1753046" cy="219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books</a:t>
            </a:r>
            <a:endParaRPr lang="en-US" sz="1350" b="1" dirty="0">
              <a:solidFill>
                <a:srgbClr val="3D3838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39874" y="2485703"/>
            <a:ext cx="2559546" cy="4627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id (PK UUID), title, author, isbn, year, status</a:t>
            </a:r>
            <a:endParaRPr lang="en-US" sz="1200" dirty="0">
              <a:solidFill>
                <a:srgbClr val="3D3838"/>
              </a:solidFill>
              <a:latin typeface="Arial" panose="020B0604020202020204" pitchFamily="34" charset="0"/>
              <a:ea typeface="Source Sans 3" panose="020B0303030403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3292227" y="2174056"/>
            <a:ext cx="1753046" cy="219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users</a:t>
            </a:r>
            <a:endParaRPr lang="en-US" sz="1350" b="1" dirty="0">
              <a:solidFill>
                <a:srgbClr val="3D3838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3292227" y="2485703"/>
            <a:ext cx="2559546" cy="2313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id (PK UUID), name, email, reg_date</a:t>
            </a:r>
            <a:endParaRPr lang="en-US" sz="1200" dirty="0">
              <a:solidFill>
                <a:srgbClr val="3D3838"/>
              </a:solidFill>
              <a:latin typeface="Arial" panose="020B0604020202020204" pitchFamily="34" charset="0"/>
              <a:ea typeface="Source Sans 3" panose="020B0303030403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6044580" y="2174056"/>
            <a:ext cx="1753046" cy="219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issues</a:t>
            </a:r>
            <a:endParaRPr lang="en-US" sz="1350" b="1" dirty="0">
              <a:solidFill>
                <a:srgbClr val="3D3838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044580" y="2485703"/>
            <a:ext cx="2559546" cy="6940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id (PK UUID), book_id (FK), user_id (FK), issue_date, due_date, return_date, status</a:t>
            </a:r>
            <a:endParaRPr lang="en-US" sz="1200" dirty="0">
              <a:solidFill>
                <a:srgbClr val="3D3838"/>
              </a:solidFill>
              <a:latin typeface="Arial" panose="020B0604020202020204" pitchFamily="34" charset="0"/>
              <a:ea typeface="Source Sans 3" panose="020B0303030403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311274" y="3668891"/>
            <a:ext cx="8521452" cy="2313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Связи: issues.book_id → books.id, issues.user_id → users.id. Контроль целостности через внешние ключи в SQLite.</a:t>
            </a:r>
            <a:endParaRPr lang="en-US" sz="1200" dirty="0">
              <a:solidFill>
                <a:srgbClr val="3D3838"/>
              </a:solidFill>
              <a:latin typeface="Arial" panose="020B0604020202020204" pitchFamily="34" charset="0"/>
              <a:ea typeface="Source Sans 3" panose="020B0303030403020204" pitchFamily="34" charset="-122"/>
              <a:cs typeface="Arial" panose="020B0604020202020204" pitchFamily="34" charset="0"/>
            </a:endParaRPr>
          </a:p>
        </p:txBody>
      </p:sp>
      <p:pic>
        <p:nvPicPr>
          <p:cNvPr id="13" name="Изображение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8045" y="4686935"/>
            <a:ext cx="1857375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502346"/>
            <a:ext cx="4494312" cy="350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API — основные endpoints</a:t>
            </a:r>
            <a:endParaRPr lang="en-US" sz="2200" b="1" dirty="0">
              <a:solidFill>
                <a:srgbClr val="000000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9874" y="2161431"/>
            <a:ext cx="308521" cy="1928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Montserrat Light" pitchFamily="34" charset="-122"/>
                <a:cs typeface="Arial" panose="020B0604020202020204" pitchFamily="34" charset="0"/>
              </a:rPr>
              <a:t>01</a:t>
            </a:r>
            <a:endParaRPr lang="en-US" sz="1200" dirty="0">
              <a:solidFill>
                <a:srgbClr val="3D3838"/>
              </a:solidFill>
              <a:latin typeface="Arial" panose="020B0604020202020204" pitchFamily="34" charset="0"/>
              <a:ea typeface="Montserrat Light" pitchFamily="34" charset="-122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39874" y="2404542"/>
            <a:ext cx="2585219" cy="19050"/>
          </a:xfrm>
          <a:prstGeom prst="rect">
            <a:avLst/>
          </a:prstGeom>
          <a:solidFill>
            <a:srgbClr val="2D2E34"/>
          </a:solidFill>
        </p:spPr>
      </p:sp>
      <p:sp>
        <p:nvSpPr>
          <p:cNvPr id="5" name="Text 3"/>
          <p:cNvSpPr/>
          <p:nvPr/>
        </p:nvSpPr>
        <p:spPr>
          <a:xfrm>
            <a:off x="539874" y="2519735"/>
            <a:ext cx="1753046" cy="219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Книги</a:t>
            </a:r>
            <a:endParaRPr lang="en-US" sz="1350" b="1" dirty="0">
              <a:solidFill>
                <a:srgbClr val="3D3838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9874" y="2831381"/>
            <a:ext cx="2585219" cy="6940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POST /books, GET /books, GET /books/{id}, PUT /books/{id}, DELETE /books/{id}</a:t>
            </a:r>
            <a:endParaRPr lang="en-US" sz="1200" dirty="0">
              <a:solidFill>
                <a:srgbClr val="3D3838"/>
              </a:solidFill>
              <a:latin typeface="Arial" panose="020B0604020202020204" pitchFamily="34" charset="0"/>
              <a:ea typeface="Source Sans 3" panose="020B0303030403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79353" y="2161431"/>
            <a:ext cx="308521" cy="1928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Montserrat Light" pitchFamily="34" charset="-122"/>
                <a:cs typeface="Arial" panose="020B0604020202020204" pitchFamily="34" charset="0"/>
              </a:rPr>
              <a:t>02</a:t>
            </a:r>
            <a:endParaRPr lang="en-US" sz="1200" dirty="0">
              <a:solidFill>
                <a:srgbClr val="3D3838"/>
              </a:solidFill>
              <a:latin typeface="Arial" panose="020B0604020202020204" pitchFamily="34" charset="0"/>
              <a:ea typeface="Montserrat Light" pitchFamily="34" charset="-122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79353" y="2404542"/>
            <a:ext cx="2585219" cy="19050"/>
          </a:xfrm>
          <a:prstGeom prst="rect">
            <a:avLst/>
          </a:prstGeom>
          <a:solidFill>
            <a:srgbClr val="2D2E34"/>
          </a:solidFill>
        </p:spPr>
      </p:sp>
      <p:sp>
        <p:nvSpPr>
          <p:cNvPr id="9" name="Text 7"/>
          <p:cNvSpPr/>
          <p:nvPr/>
        </p:nvSpPr>
        <p:spPr>
          <a:xfrm>
            <a:off x="3279353" y="2519735"/>
            <a:ext cx="1753046" cy="219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Пользователи</a:t>
            </a:r>
            <a:endParaRPr lang="en-US" sz="1350" b="1" dirty="0">
              <a:solidFill>
                <a:srgbClr val="3D3838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79353" y="2831381"/>
            <a:ext cx="2585219" cy="2313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POST /users, GET /users</a:t>
            </a:r>
            <a:endParaRPr lang="en-US" sz="1200" dirty="0">
              <a:solidFill>
                <a:srgbClr val="3D3838"/>
              </a:solidFill>
              <a:latin typeface="Arial" panose="020B0604020202020204" pitchFamily="34" charset="0"/>
              <a:ea typeface="Source Sans 3" panose="020B0303030403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18833" y="2161431"/>
            <a:ext cx="308521" cy="1928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Montserrat Light" pitchFamily="34" charset="-122"/>
                <a:cs typeface="Arial" panose="020B0604020202020204" pitchFamily="34" charset="0"/>
              </a:rPr>
              <a:t>03</a:t>
            </a:r>
            <a:endParaRPr lang="en-US" sz="1200" dirty="0">
              <a:solidFill>
                <a:srgbClr val="3D3838"/>
              </a:solidFill>
              <a:latin typeface="Arial" panose="020B0604020202020204" pitchFamily="34" charset="0"/>
              <a:ea typeface="Montserrat Light" pitchFamily="34" charset="-122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18833" y="2404542"/>
            <a:ext cx="2585219" cy="19050"/>
          </a:xfrm>
          <a:prstGeom prst="rect">
            <a:avLst/>
          </a:prstGeom>
          <a:solidFill>
            <a:srgbClr val="2D2E34"/>
          </a:solidFill>
        </p:spPr>
      </p:sp>
      <p:sp>
        <p:nvSpPr>
          <p:cNvPr id="13" name="Text 11"/>
          <p:cNvSpPr/>
          <p:nvPr/>
        </p:nvSpPr>
        <p:spPr>
          <a:xfrm>
            <a:off x="6018833" y="2519735"/>
            <a:ext cx="1753046" cy="219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Операции</a:t>
            </a:r>
            <a:endParaRPr lang="en-US" sz="1350" b="1" dirty="0">
              <a:solidFill>
                <a:srgbClr val="3D3838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18833" y="2831381"/>
            <a:ext cx="2585219" cy="4627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POST /issues (выдача), POST /returns (возврат), GET /issues (журнал)</a:t>
            </a:r>
            <a:endParaRPr lang="en-US" sz="1200" dirty="0">
              <a:solidFill>
                <a:srgbClr val="3D3838"/>
              </a:solidFill>
              <a:latin typeface="Arial" panose="020B0604020202020204" pitchFamily="34" charset="0"/>
              <a:ea typeface="Source Sans 3" panose="020B0303030403020204" pitchFamily="34" charset="-122"/>
              <a:cs typeface="Arial" panose="020B0604020202020204" pitchFamily="34" charset="0"/>
            </a:endParaRPr>
          </a:p>
        </p:txBody>
      </p:sp>
      <p:pic>
        <p:nvPicPr>
          <p:cNvPr id="15" name="Изображение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8045" y="4686935"/>
            <a:ext cx="1857375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276648"/>
            <a:ext cx="4263256" cy="350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Примеры запросов (curl)</a:t>
            </a:r>
            <a:endParaRPr lang="en-US" sz="2200" b="1" dirty="0">
              <a:solidFill>
                <a:srgbClr val="000000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7694" y="1940496"/>
            <a:ext cx="231353" cy="2313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1202" y="1935733"/>
            <a:ext cx="1801044" cy="219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Добавление книги</a:t>
            </a:r>
            <a:endParaRPr lang="en-US" sz="1350" b="1" dirty="0">
              <a:solidFill>
                <a:srgbClr val="3D3838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41202" y="2247379"/>
            <a:ext cx="2058219" cy="16194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curl -X POST http://localhost:8080/books -H "Content-Type: application/json" -d '{"title":"Война и мир","author":"Толстой","year":1869}'</a:t>
            </a:r>
            <a:endParaRPr lang="en-US" sz="1200" dirty="0">
              <a:solidFill>
                <a:srgbClr val="3D3838"/>
              </a:solidFill>
              <a:latin typeface="Arial" panose="020B0604020202020204" pitchFamily="34" charset="0"/>
              <a:ea typeface="Source Sans 3" panose="020B0303030403020204" pitchFamily="34" charset="-122"/>
              <a:cs typeface="Arial" panose="020B060402020202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0047" y="1940496"/>
            <a:ext cx="231353" cy="2313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93554" y="1935733"/>
            <a:ext cx="1753046" cy="219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Фильтрация</a:t>
            </a:r>
            <a:endParaRPr lang="en-US" sz="1350" b="1" dirty="0">
              <a:solidFill>
                <a:srgbClr val="3D3838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3793554" y="2247379"/>
            <a:ext cx="2058219" cy="9254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curl "http://localhost:8080/books?author=Пушкин&amp;status=Available"</a:t>
            </a:r>
            <a:endParaRPr lang="en-US" sz="1200" dirty="0">
              <a:solidFill>
                <a:srgbClr val="3D3838"/>
              </a:solidFill>
              <a:latin typeface="Arial" panose="020B0604020202020204" pitchFamily="34" charset="0"/>
              <a:ea typeface="Source Sans 3" panose="020B0303030403020204" pitchFamily="34" charset="-122"/>
              <a:cs typeface="Arial" panose="020B060402020202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02400" y="1940496"/>
            <a:ext cx="231353" cy="2313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45907" y="1935733"/>
            <a:ext cx="1753046" cy="219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Выдача книги</a:t>
            </a:r>
            <a:endParaRPr lang="en-US" sz="1350" b="1" dirty="0">
              <a:solidFill>
                <a:srgbClr val="3D3838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545907" y="2247379"/>
            <a:ext cx="2058219" cy="115676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curl -X POST http://localhost:8080/issues -H "Content-Type: application/json" -d '{"book_id":"","user_id":""}'</a:t>
            </a:r>
            <a:endParaRPr lang="en-US" sz="1200" dirty="0">
              <a:solidFill>
                <a:srgbClr val="3D3838"/>
              </a:solidFill>
              <a:latin typeface="Arial" panose="020B0604020202020204" pitchFamily="34" charset="0"/>
              <a:ea typeface="Source Sans 3" panose="020B0303030403020204" pitchFamily="34" charset="-122"/>
              <a:cs typeface="Arial" panose="020B0604020202020204" pitchFamily="34" charset="0"/>
            </a:endParaRPr>
          </a:p>
        </p:txBody>
      </p:sp>
      <p:pic>
        <p:nvPicPr>
          <p:cNvPr id="12" name="Изображение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045" y="4686935"/>
            <a:ext cx="1857375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366986"/>
            <a:ext cx="7926363" cy="350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Ключевые моменты реализации и безопасность</a:t>
            </a:r>
            <a:endParaRPr lang="en-US" sz="2200" b="1" dirty="0">
              <a:solidFill>
                <a:srgbClr val="000000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9874" y="2087687"/>
            <a:ext cx="4301133" cy="2313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Защита от SQL‑инъекций</a:t>
            </a:r>
            <a:endParaRPr lang="en-US" sz="1200" b="1" dirty="0">
              <a:solidFill>
                <a:srgbClr val="3D3838"/>
              </a:solidFill>
              <a:latin typeface="Arial" panose="020B0604020202020204" pitchFamily="34" charset="0"/>
              <a:ea typeface="Source Sans 3" panose="020B0303030403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9874" y="2457822"/>
            <a:ext cx="3843933" cy="74801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Использование параметризованных запросов: db.Exec("INSERT ... VALUES (?,?,?)", ...)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Проверка входных данных на стороне сервера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64956" y="2087687"/>
            <a:ext cx="4301133" cy="2313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Валидация и бизнес‑логика</a:t>
            </a:r>
            <a:endParaRPr lang="en-US" sz="1200" b="1" dirty="0">
              <a:solidFill>
                <a:srgbClr val="3D3838"/>
              </a:solidFill>
              <a:latin typeface="Arial" panose="020B0604020202020204" pitchFamily="34" charset="0"/>
              <a:ea typeface="Source Sans 3" panose="020B0303030403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64956" y="2457822"/>
            <a:ext cx="3843933" cy="126466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Проверка обязательных полей (если b.Title == "" → 400)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Срок выдачи: issue.DueDate = time.Now().AddDate(0,0,14)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Статусы книг: Available, Issued, Lost и т.д.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8045" y="4686935"/>
            <a:ext cx="1857375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270620"/>
            <a:ext cx="6248177" cy="350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Демонстрация — план живого показа</a:t>
            </a:r>
            <a:endParaRPr lang="en-US" sz="2200" b="1" dirty="0">
              <a:solidFill>
                <a:srgbClr val="000000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9874" y="1929705"/>
            <a:ext cx="8064252" cy="19431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Запуск сервера: go run ./cmd/main.go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Открыть веб-интерфейс: http://localhost:8080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Добавить 2–3 книги через форму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Зарегистрировать читателя → создать UUID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 startAt="5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Выдать книгу → наблюдать смену статуса и запись в журнале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 startAt="6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Вернуть книгу → статус → Available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 startAt="7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Проверка БД: sqlite3 library.db → SELECT * FROM books;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8045" y="4686935"/>
            <a:ext cx="1857375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270620"/>
            <a:ext cx="6248177" cy="350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Демонстрация — план живого показа</a:t>
            </a:r>
            <a:endParaRPr lang="en-US" sz="2200" b="1" dirty="0">
              <a:solidFill>
                <a:srgbClr val="000000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9874" y="1929705"/>
            <a:ext cx="8064252" cy="19431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Запуск сервера: go run ./cmd/main.go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Открыть веб-интерфейс: http://localhost:8080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Добавить 2–3 книги через форму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Зарегистрировать читателя → создать UUID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 startAt="5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Выдать книгу → наблюдать смену статуса и запись в журнале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 startAt="6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Вернуть книгу → статус → Available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 startAt="7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Проверка БД: sqlite3 library.db → SELECT * FROM books;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8045" y="4686935"/>
            <a:ext cx="1857375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99914"/>
            <a:ext cx="4623271" cy="350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Выводы и план улучшений</a:t>
            </a:r>
            <a:endParaRPr lang="en-US" sz="2200" b="1" dirty="0">
              <a:solidFill>
                <a:srgbClr val="000000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0824" y="1158999"/>
            <a:ext cx="3974009" cy="26709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0334" y="1332309"/>
            <a:ext cx="1753046" cy="219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Реализовано</a:t>
            </a:r>
            <a:endParaRPr lang="en-US" sz="1350" b="1" dirty="0">
              <a:solidFill>
                <a:srgbClr val="3D3838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70334" y="1643955"/>
            <a:ext cx="3551188" cy="801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Полный REST API по ТЗ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Валидация и фильтрация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Веб‑интерфейс и журналирование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30043" y="1158999"/>
            <a:ext cx="3974083" cy="26709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79553" y="1332309"/>
            <a:ext cx="2810768" cy="219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Предложения по улучшению</a:t>
            </a:r>
            <a:endParaRPr lang="en-US" sz="1350" b="1" dirty="0">
              <a:solidFill>
                <a:srgbClr val="3D3838"/>
              </a:solidFill>
              <a:latin typeface="Arial" panose="020B0604020202020204" pitchFamily="34" charset="0"/>
              <a:ea typeface="Montserrat Bold" pitchFamily="34" charset="-122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879553" y="1643955"/>
            <a:ext cx="3551262" cy="20126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Включить JWT-авторизацию и роли (admin/librarian/user)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Добавить пагинацию и индексирование для больших каталогов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Оформить транзакции на выдачу/возврат для консистентности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Покрыть критичные части тестами; добавить Dockerfile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39874" y="4003477"/>
            <a:ext cx="8064252" cy="640035"/>
          </a:xfrm>
          <a:prstGeom prst="roundRect">
            <a:avLst>
              <a:gd name="adj" fmla="val 3616"/>
            </a:avLst>
          </a:prstGeom>
          <a:solidFill>
            <a:srgbClr val="FFFFFF"/>
          </a:solidFill>
        </p:spPr>
      </p:sp>
      <p:sp>
        <p:nvSpPr>
          <p:cNvPr id="11" name="Text 6"/>
          <p:cNvSpPr/>
          <p:nvPr/>
        </p:nvSpPr>
        <p:spPr>
          <a:xfrm>
            <a:off x="1041202" y="4196283"/>
            <a:ext cx="7865864" cy="2313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anose="020B0303030403020204" pitchFamily="34" charset="-122"/>
                <a:cs typeface="Arial" panose="020B0604020202020204" pitchFamily="34" charset="0"/>
              </a:rPr>
              <a:t>Спасибо за внимание! Вопросы и предложения по архитектуре или коду — обсуждаем.</a:t>
            </a:r>
            <a:endParaRPr lang="en-US" sz="1200" dirty="0">
              <a:solidFill>
                <a:srgbClr val="000000"/>
              </a:solidFill>
              <a:latin typeface="Arial" panose="020B0604020202020204" pitchFamily="34" charset="0"/>
              <a:ea typeface="Source Sans 3" panose="020B0303030403020204" pitchFamily="34" charset="-122"/>
              <a:cs typeface="Arial" panose="020B0604020202020204" pitchFamily="34" charset="0"/>
            </a:endParaRPr>
          </a:p>
        </p:txBody>
      </p:sp>
      <p:pic>
        <p:nvPicPr>
          <p:cNvPr id="12" name="Изображение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045" y="4686935"/>
            <a:ext cx="1857375" cy="3905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3808</Words>
  <Application>WPS Presentation</Application>
  <PresentationFormat>On-screen Show (16:9)</PresentationFormat>
  <Paragraphs>142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34" baseType="lpstr">
      <vt:lpstr>Arial</vt:lpstr>
      <vt:lpstr>SimSun</vt:lpstr>
      <vt:lpstr>Wingdings</vt:lpstr>
      <vt:lpstr>Montserrat Bold</vt:lpstr>
      <vt:lpstr>Montserrat Bold</vt:lpstr>
      <vt:lpstr>Montserrat Bold</vt:lpstr>
      <vt:lpstr>Source Sans 3</vt:lpstr>
      <vt:lpstr>Source Sans 3</vt:lpstr>
      <vt:lpstr>Source Sans 3</vt:lpstr>
      <vt:lpstr>Consolas</vt:lpstr>
      <vt:lpstr>Consolas</vt:lpstr>
      <vt:lpstr>Consolas</vt:lpstr>
      <vt:lpstr>Montserrat Light</vt:lpstr>
      <vt:lpstr>Segoe Print</vt:lpstr>
      <vt:lpstr>Montserrat Light</vt:lpstr>
      <vt:lpstr>Montserrat Light</vt:lpstr>
      <vt:lpstr>Calibri</vt:lpstr>
      <vt:lpstr>Microsoft YaHei</vt:lpstr>
      <vt:lpstr>Arial Unicode MS</vt:lpstr>
      <vt:lpstr>MingLiU-ExtB</vt:lpstr>
      <vt:lpstr>Calibri Light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DISPETCHER</cp:lastModifiedBy>
  <cp:revision>3</cp:revision>
  <dcterms:created xsi:type="dcterms:W3CDTF">2026-06-01T17:49:00Z</dcterms:created>
  <dcterms:modified xsi:type="dcterms:W3CDTF">2026-06-01T17:57:05Z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139D3714AA3B4668AE28CC7EAE2D7C12_13</vt:lpwstr>
  </property>
  <property fmtid="{D5CDD505-2E9C-101B-9397-08002B2CF9AE}" pid="3" name="KSOProductBuildVer">
    <vt:lpwstr>1049-12.2.0.23202</vt:lpwstr>
  </property>
</Properties>
</file>